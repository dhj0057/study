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6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20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2.xml" ContentType="application/vnd.openxmlformats-officedocument.theme+xml"/>
  <Override PartName="/ppt/webextensions/taskpanes.xml" ContentType="application/vnd.ms-office.webextensiontaskpan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webextensions/webextension1.xml" ContentType="application/vnd.ms-office.webextensio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266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284" r:id="rId30"/>
    <p:sldId id="319" r:id="rId31"/>
    <p:sldId id="320" r:id="rId32"/>
    <p:sldId id="321" r:id="rId33"/>
    <p:sldId id="322" r:id="rId34"/>
    <p:sldId id="323" r:id="rId35"/>
    <p:sldId id="324" r:id="rId36"/>
    <p:sldId id="291" r:id="rId37"/>
    <p:sldId id="325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20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46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지난주 GPU 확인 캡처 제출 여부를 먼저 확인한다. 준비물(분류할 물건)을 가져왔는지 손 들어 점검.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'코드 없이'가 오늘의 핵심어. 3주차부터 코드로 넘어간다는 흐름도 미리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시간 배분(교수용) 총 165분: 복습·도입 20 / 개념 25 / 실습A 35 / 실습B 25 / 생각해보기 10 / 쉬는시간 10 / 실습C 10 / 실습D 30 / 과제·정리 15. 진도가 밀리면 실습D의 '여러 장 한 번에'를 과제로 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 과제 미제출자를 여기서 확인한다. GPU 캡처를 못 낸 학생은 오늘 쉬는 시간에 처리하도록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전체 주소
1) https://magazine.hankyung.com/job-joy/article/202512290531d
2) https://www.fortunebusinessinsights.com/no-code-ai-platform-market-110382
3) https://teachablemachine.withgoogle.com/
세 링크 모두 자료 작성 시점(2026-08-07)에 접속 확인함.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[그림 2-1]에는 교수가 미리 만들어 둔 완성 결과를 캡처해 넣는다. 첫 5분에 '오늘 이걸 만듭니다'를 보여주는 것이 몰입도에 가장 크게 작용한다.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시험에 나올 개념. '학습은 몇 번 하나요?'라고 물어 한 번만 하면 된다는 점을 학생 입에서 끌어낸다.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개념을 먼저 잡아두면 실습 D의 labels.txt 읽기 코드가 훨씬 쉽게 이해된다.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'AI가 다 해 주는 것 아닌가요?'라는 질문이 자주 나온다. 데이터 선택이 사람 몫이라는 점을 여기서 못 박는다.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용어를 외우게 하지 말고, 실습 중에 이 슬라이드로 돌아와 짚어주는 방식으로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물건을 안 가져온 학생은 필기구·지우개·휴대폰 등 교실에 있는 물건으로 진행시킨다.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임베디드 모델을 잘못 고르면 나중에 내보내기 형식이 달라진다. 표준 모델인지 반드시 확인시킬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앞서 8번 슬라이드에서 다룬 '클래스=번호' 개념과 연결해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웹캠 권한 문제가 실습실에서 가장 많이 발생한다. 수업 전 실습실 PC 카메라를 한 대 미리 확인해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현상을 즉석에서 시연해 보여주면 가장 강한 학습 경험이 된다. 일부러 한 배경으로만 찍은 모델을 미리 준비해 두면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전체가 같은 지점에 도달했는지 확인하는 슬라이드. 여기서 늦은 학생을 반드시 따라잡게 한 뒤 진행한다.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학습이 끝나는 순간이 오늘 수업의 하이라이트. 학생들이 동시에 도달하도록 대기 시간을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설정을 만지고 싶어하는 학생이 꼭 있다. 바꿔도 되지만 그 전에 데이터부터 보라고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'손을 보여줬는데 볼펜이래요'라고 반응한다. 그 반응을 다음 슬라이드로 그대로 가져간다.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바로 답을 말하지 말고 1분을 실제로 준다. 학생이 스스로 '선택지가 3개뿐이라서'에 도달하면 성공.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②는 현업에서 자주 쓰는 방법. 시간이 남으면 '해당 없음' 클래스를 추가해 다시 학습시키는 즉석 실습을 붙일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탭을 닫으면 학습 결과가 날아간다는 점을 반드시 크게 말할 것. 매년 몇 명이 닫고 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형식을 잘못 고르면 뒤의 Colab 실습이 전부 막힌다. 학생 화면을 한 번씩 돌아보며 확인할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오류는 실제로 재현해서 확인했다. 궁금해하는 학생에게는 노트북 (참고) 셀을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업로드 도중 다른 셀을 실행해 실패하는 사례가 매년 나온다. 미리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8번 슬라이드(클래스=번호) 개념과 연결해 설명하면 이해가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예시는 실제로 실행해서 얻은 값이다. 학생 화면에도 같은 형태가 나와야 정상.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함수로 묶어두면 뒤에서 여러 장을 처리할 때 그대로 재사용된다는 점을 짚어준다.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'넣고-돌리고-꺼내고' 3박자로 외우게 한다. 3주차 이후 파이프라인도 구조가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33% 근처 결과는 실제 검증 실행에서 나온 값. 학생 결과가 이렇게 나오면 데이터 문제임을 알려주는 좋은 지표.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막힌 학생은 오류 표(다음 슬라이드)로 바로 넘어가 함께 해결한다.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웹캠 권한 문제가 실습실에서 가장 많이 발생한다. 수업 전 실습실 PC 카메라를 한 대 미리 확인해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1학년은 오류 앞에서 얼어붙는 경우가 많다. '오류는 정상'이라는 메시지를 반복해서 심는다.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정확도로 줄 세우지 않는다는 점을 분명히 말한다. 데이터를 잘 못 모은 학생도 이유를 설명하면 점수를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주소
https://teachablemachine.withgoogle.com/
https://opentutorials.org/course/4548/28897
https://modulabs.co.kr/blog/teachable-machine
https://developers.google.com/edge/litert/migration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제출 기한과 팀즈 과제 생성 여부를 수업 전에 확인해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계정 미생성 학생을 파악해 두면 3주차 진행이 수월하다.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390144" cy="4114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81000" y="1097280"/>
            <a:ext cx="390144" cy="41148"/>
          </a:xfrm>
          <a:prstGeom prst="rect">
            <a:avLst/>
          </a:prstGeom>
          <a:solidFill>
            <a:srgbClr val="4B77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2000" y="1097280"/>
            <a:ext cx="390144" cy="41148"/>
          </a:xfrm>
          <a:prstGeom prst="rect">
            <a:avLst/>
          </a:prstGeom>
          <a:solidFill>
            <a:srgbClr val="517C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1097280"/>
            <a:ext cx="390144" cy="41148"/>
          </a:xfrm>
          <a:prstGeom prst="rect">
            <a:avLst/>
          </a:prstGeom>
          <a:solidFill>
            <a:srgbClr val="5881C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24000" y="1097280"/>
            <a:ext cx="390144" cy="41148"/>
          </a:xfrm>
          <a:prstGeom prst="rect">
            <a:avLst/>
          </a:prstGeom>
          <a:solidFill>
            <a:srgbClr val="5F86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905000" y="1097280"/>
            <a:ext cx="390144" cy="41148"/>
          </a:xfrm>
          <a:prstGeom prst="rect">
            <a:avLst/>
          </a:prstGeom>
          <a:solidFill>
            <a:srgbClr val="658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390144" cy="41148"/>
          </a:xfrm>
          <a:prstGeom prst="rect">
            <a:avLst/>
          </a:prstGeom>
          <a:solidFill>
            <a:srgbClr val="6C90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67000" y="1097280"/>
            <a:ext cx="390144" cy="41148"/>
          </a:xfrm>
          <a:prstGeom prst="rect">
            <a:avLst/>
          </a:prstGeom>
          <a:solidFill>
            <a:srgbClr val="7395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48000" y="1097280"/>
            <a:ext cx="390144" cy="41148"/>
          </a:xfrm>
          <a:prstGeom prst="rect">
            <a:avLst/>
          </a:prstGeom>
          <a:solidFill>
            <a:srgbClr val="7A9A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29000" y="1097280"/>
            <a:ext cx="390144" cy="41148"/>
          </a:xfrm>
          <a:prstGeom prst="rect">
            <a:avLst/>
          </a:prstGeom>
          <a:solidFill>
            <a:srgbClr val="809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810000" y="1097280"/>
            <a:ext cx="390144" cy="41148"/>
          </a:xfrm>
          <a:prstGeom prst="rect">
            <a:avLst/>
          </a:prstGeom>
          <a:solidFill>
            <a:srgbClr val="87A4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191000" y="1097280"/>
            <a:ext cx="390144" cy="41148"/>
          </a:xfrm>
          <a:prstGeom prst="rect">
            <a:avLst/>
          </a:prstGeom>
          <a:solidFill>
            <a:srgbClr val="8EA9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1097280"/>
            <a:ext cx="390144" cy="41148"/>
          </a:xfrm>
          <a:prstGeom prst="rect">
            <a:avLst/>
          </a:prstGeom>
          <a:solidFill>
            <a:srgbClr val="94AF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953000" y="1097280"/>
            <a:ext cx="390144" cy="41148"/>
          </a:xfrm>
          <a:prstGeom prst="rect">
            <a:avLst/>
          </a:prstGeom>
          <a:solidFill>
            <a:srgbClr val="9BB4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334000" y="1097280"/>
            <a:ext cx="390144" cy="41148"/>
          </a:xfrm>
          <a:prstGeom prst="rect">
            <a:avLst/>
          </a:prstGeom>
          <a:solidFill>
            <a:srgbClr val="A2B9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715000" y="1097280"/>
            <a:ext cx="390144" cy="41148"/>
          </a:xfrm>
          <a:prstGeom prst="rect">
            <a:avLst/>
          </a:prstGeom>
          <a:solidFill>
            <a:srgbClr val="A8BE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6000" y="1097280"/>
            <a:ext cx="390144" cy="41148"/>
          </a:xfrm>
          <a:prstGeom prst="rect">
            <a:avLst/>
          </a:prstGeom>
          <a:solidFill>
            <a:srgbClr val="AFC3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77000" y="1097280"/>
            <a:ext cx="390144" cy="41148"/>
          </a:xfrm>
          <a:prstGeom prst="rect">
            <a:avLst/>
          </a:prstGeom>
          <a:solidFill>
            <a:srgbClr val="B6C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0" y="1097280"/>
            <a:ext cx="390144" cy="41148"/>
          </a:xfrm>
          <a:prstGeom prst="rect">
            <a:avLst/>
          </a:prstGeom>
          <a:solidFill>
            <a:srgbClr val="BDCD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239000" y="1097280"/>
            <a:ext cx="390144" cy="41148"/>
          </a:xfrm>
          <a:prstGeom prst="rect">
            <a:avLst/>
          </a:prstGeom>
          <a:solidFill>
            <a:srgbClr val="C3D2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620000" y="1097280"/>
            <a:ext cx="390144" cy="41148"/>
          </a:xfrm>
          <a:prstGeom prst="rect">
            <a:avLst/>
          </a:prstGeom>
          <a:solidFill>
            <a:srgbClr val="CAD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001000" y="1097280"/>
            <a:ext cx="390144" cy="41148"/>
          </a:xfrm>
          <a:prstGeom prst="rect">
            <a:avLst/>
          </a:prstGeom>
          <a:solidFill>
            <a:srgbClr val="D1D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82000" y="1097280"/>
            <a:ext cx="390144" cy="41148"/>
          </a:xfrm>
          <a:prstGeom prst="rect">
            <a:avLst/>
          </a:prstGeom>
          <a:solidFill>
            <a:srgbClr val="D7E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763000" y="1097280"/>
            <a:ext cx="390144" cy="41148"/>
          </a:xfrm>
          <a:prstGeom prst="rect">
            <a:avLst/>
          </a:prstGeom>
          <a:solidFill>
            <a:srgbClr val="DEE6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 플랫폼실습 · 2주차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2416"/>
            <a:ext cx="390144" cy="41148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81000" y="1042416"/>
            <a:ext cx="390144" cy="41148"/>
          </a:xfrm>
          <a:prstGeom prst="rect">
            <a:avLst/>
          </a:prstGeom>
          <a:solidFill>
            <a:srgbClr val="4B77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2000" y="1042416"/>
            <a:ext cx="390144" cy="41148"/>
          </a:xfrm>
          <a:prstGeom prst="rect">
            <a:avLst/>
          </a:prstGeom>
          <a:solidFill>
            <a:srgbClr val="517C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43000" y="1042416"/>
            <a:ext cx="390144" cy="41148"/>
          </a:xfrm>
          <a:prstGeom prst="rect">
            <a:avLst/>
          </a:prstGeom>
          <a:solidFill>
            <a:srgbClr val="5881C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24000" y="1042416"/>
            <a:ext cx="390144" cy="41148"/>
          </a:xfrm>
          <a:prstGeom prst="rect">
            <a:avLst/>
          </a:prstGeom>
          <a:solidFill>
            <a:srgbClr val="5F86C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905000" y="1042416"/>
            <a:ext cx="390144" cy="41148"/>
          </a:xfrm>
          <a:prstGeom prst="rect">
            <a:avLst/>
          </a:prstGeom>
          <a:solidFill>
            <a:srgbClr val="658B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286000" y="1042416"/>
            <a:ext cx="390144" cy="41148"/>
          </a:xfrm>
          <a:prstGeom prst="rect">
            <a:avLst/>
          </a:prstGeom>
          <a:solidFill>
            <a:srgbClr val="6C90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667000" y="1042416"/>
            <a:ext cx="390144" cy="41148"/>
          </a:xfrm>
          <a:prstGeom prst="rect">
            <a:avLst/>
          </a:prstGeom>
          <a:solidFill>
            <a:srgbClr val="7395D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48000" y="1042416"/>
            <a:ext cx="390144" cy="41148"/>
          </a:xfrm>
          <a:prstGeom prst="rect">
            <a:avLst/>
          </a:prstGeom>
          <a:solidFill>
            <a:srgbClr val="7A9AD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429000" y="1042416"/>
            <a:ext cx="390144" cy="41148"/>
          </a:xfrm>
          <a:prstGeom prst="rect">
            <a:avLst/>
          </a:prstGeom>
          <a:solidFill>
            <a:srgbClr val="809FD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810000" y="1042416"/>
            <a:ext cx="390144" cy="41148"/>
          </a:xfrm>
          <a:prstGeom prst="rect">
            <a:avLst/>
          </a:prstGeom>
          <a:solidFill>
            <a:srgbClr val="87A4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191000" y="1042416"/>
            <a:ext cx="390144" cy="41148"/>
          </a:xfrm>
          <a:prstGeom prst="rect">
            <a:avLst/>
          </a:prstGeom>
          <a:solidFill>
            <a:srgbClr val="8EA9D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0" y="1042416"/>
            <a:ext cx="390144" cy="41148"/>
          </a:xfrm>
          <a:prstGeom prst="rect">
            <a:avLst/>
          </a:prstGeom>
          <a:solidFill>
            <a:srgbClr val="94AFD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953000" y="1042416"/>
            <a:ext cx="390144" cy="41148"/>
          </a:xfrm>
          <a:prstGeom prst="rect">
            <a:avLst/>
          </a:prstGeom>
          <a:solidFill>
            <a:srgbClr val="9BB4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334000" y="1042416"/>
            <a:ext cx="390144" cy="41148"/>
          </a:xfrm>
          <a:prstGeom prst="rect">
            <a:avLst/>
          </a:prstGeom>
          <a:solidFill>
            <a:srgbClr val="A2B9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715000" y="1042416"/>
            <a:ext cx="390144" cy="41148"/>
          </a:xfrm>
          <a:prstGeom prst="rect">
            <a:avLst/>
          </a:prstGeom>
          <a:solidFill>
            <a:srgbClr val="A8BE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96000" y="1042416"/>
            <a:ext cx="390144" cy="41148"/>
          </a:xfrm>
          <a:prstGeom prst="rect">
            <a:avLst/>
          </a:prstGeom>
          <a:solidFill>
            <a:srgbClr val="AFC3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477000" y="1042416"/>
            <a:ext cx="390144" cy="41148"/>
          </a:xfrm>
          <a:prstGeom prst="rect">
            <a:avLst/>
          </a:prstGeom>
          <a:solidFill>
            <a:srgbClr val="B6C8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0" y="1042416"/>
            <a:ext cx="390144" cy="41148"/>
          </a:xfrm>
          <a:prstGeom prst="rect">
            <a:avLst/>
          </a:prstGeom>
          <a:solidFill>
            <a:srgbClr val="BDCD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239000" y="1042416"/>
            <a:ext cx="390144" cy="41148"/>
          </a:xfrm>
          <a:prstGeom prst="rect">
            <a:avLst/>
          </a:prstGeom>
          <a:solidFill>
            <a:srgbClr val="C3D2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620000" y="1042416"/>
            <a:ext cx="390144" cy="41148"/>
          </a:xfrm>
          <a:prstGeom prst="rect">
            <a:avLst/>
          </a:prstGeom>
          <a:solidFill>
            <a:srgbClr val="CAD7E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001000" y="1042416"/>
            <a:ext cx="390144" cy="41148"/>
          </a:xfrm>
          <a:prstGeom prst="rect">
            <a:avLst/>
          </a:prstGeom>
          <a:solidFill>
            <a:srgbClr val="D1DC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82000" y="1042416"/>
            <a:ext cx="390144" cy="41148"/>
          </a:xfrm>
          <a:prstGeom prst="rect">
            <a:avLst/>
          </a:prstGeom>
          <a:solidFill>
            <a:srgbClr val="D7E1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763000" y="1042416"/>
            <a:ext cx="390144" cy="41148"/>
          </a:xfrm>
          <a:prstGeom prst="rect">
            <a:avLst/>
          </a:prstGeom>
          <a:solidFill>
            <a:srgbClr val="DEE6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 플랫폼실습 · 2주차</a:t>
            </a:r>
            <a:endParaRPr lang="en-US" sz="9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43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없이 AI 만들기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Teachable Machine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58952" y="35204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인공지능 플랫폼실습  ·  인공지능소프트웨어과 · 황종철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58952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2026학년도 2학기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431596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강의 자료는 저작권 있음으로 외부 공유 절대 금지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학습 목표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417320"/>
            <a:ext cx="310896" cy="310896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371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없이 나만의 이미지 분류 AI를 만들 수 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4128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웹캠으로 사진을 찍어 브라우저에서 바로 학습시킴.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10896" cy="310896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2402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'학습'과 '추론'의 차이를 설명할 수 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2560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가르치는 일과, 다 배운 AI에게 물어보는 일은 다름.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154680"/>
            <a:ext cx="310896" cy="310896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108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내보낸 모델을 Colab에서 불러와 사용할 수 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4128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만든 AI를 코드로 다시 불러 씀.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수업이 끝나면 — 내가 만든 AI가 내 물건을 알아맞히는 화면을 갖게 됨.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30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강의 목차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2070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24128" y="120700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복습과 요즘 이런 일이 있음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59105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59105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학습과 추론 — 오늘의 핵심 개념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97510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7510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Teachable Machine은 무엇을 대신 해 주나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23591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591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A] 프로젝트 만들고 사진 모으기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27432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B] 학습시키고 바로 시험해 보기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31272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생각해보기 — AI를 속여 보기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" y="35112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5112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C] 모델 내보내기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38953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89534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Colab에서 내 모델 사용하기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6928" y="427939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2793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과제와 제출 안내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82739" y="2514600"/>
            <a:ext cx="35204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브라우저 작업이 절반, Colab </a:t>
            </a:r>
            <a:r>
              <a:rPr lang="en-US" sz="1150" b="1" dirty="0" err="1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작업이</a:t>
            </a:r>
            <a:r>
              <a:rPr lang="en-US" sz="1150" b="1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b="1" dirty="0" err="1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</a:t>
            </a:r>
            <a:r>
              <a:rPr lang="en-US" sz="1150" b="1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b="1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6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한 것과 오늘 할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886200" cy="2286000"/>
          </a:xfrm>
          <a:prstGeom prst="roundRect">
            <a:avLst>
              <a:gd name="adj" fmla="val 16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0" y="1298448"/>
            <a:ext cx="3886200" cy="2286000"/>
          </a:xfrm>
          <a:prstGeom prst="roundRect">
            <a:avLst>
              <a:gd name="adj" fmla="val 1600"/>
            </a:avLst>
          </a:prstGeom>
          <a:solidFill>
            <a:srgbClr val="FEF7E0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 — 환경을 만듦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Colab에서 코드를 실행함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런타임을 켬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드라이브를 연결함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Kaggle 계정을 만듦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0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— 이제 AI를 만듦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 사진을 직접 모음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AI를 학습시킴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AI를 파일로 내보냄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Colab에서 그 AI를 불러 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67328"/>
            <a:ext cx="8138160" cy="82296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385876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지난주에 만든 '환경'이 오늘부터 쓰임.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실습도 1주차와 같은 Colab에서, 같은 드라이브 폴더에 저장함.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83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요즘 이런 일이 있음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2025-12-29 · 한국경제매거진 잡앤조이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081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채용 트렌드 — 기업이 'AI 잘 쓰는 사람'을 찾는다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채용 담당자 조사에서 'AI 리터러시 검증'이 46%로 3위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우리 수업과의 연결 : 오늘처럼 AI를 직접 만들어 본 경험이 그 출발점임.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2026-01-28 · Fortune Business Insights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노코드 AI 플랫폼 시장, 2026년 86억 달러 → 2034년 751억 달러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61488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 31.1% 성장 전망 (2026~2034년)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80944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우리 수업과의 연결 : 오늘 쓰는 Teachable Machine이 바로 그 '노코드 AI'임.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3649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2026-08-07 접속 확인 · Google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Teachable Machine — 이미지 · 소리 · 자세 3종을 지금도 무료 제공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데스크톱 크롬(Chrome) 또는 사파리에서만 동작 (휴대폰 브라우저 ✕)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우리 수업과의 연결 : 오늘 실습실 PC의 크롬으로 진행함.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171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전체 주소는 슬라이드 노트와 실습 노트북 '더 알아보기'에 있음.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1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여러분이 만들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362456"/>
            <a:ext cx="329184" cy="329184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1362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3258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이미지 분류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6367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볼펜 · 지우개 · 텀블러를 구분하는 AI를 직접 만듦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329184" cy="329184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파일 (.tflite)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AI를 파일로 내려받아 어디서든 쓸 수 있게 됨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935224"/>
            <a:ext cx="329184" cy="329184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8986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Colab에서 도는 예측 코드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2095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사진을 넣으면 이름과 확률을 답하는 코드를 완성함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94560" y="436168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2-1] 완성된 예측 결과 화면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080E916-8239-6D6F-A702-992D2E5F6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468" y="3448243"/>
            <a:ext cx="2052219" cy="96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8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— 학습과 추론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886200" cy="2377440"/>
          </a:xfrm>
          <a:prstGeom prst="roundRect">
            <a:avLst>
              <a:gd name="adj" fmla="val 153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0" y="1298448"/>
            <a:ext cx="3886200" cy="2377440"/>
          </a:xfrm>
          <a:prstGeom prst="roundRect">
            <a:avLst>
              <a:gd name="adj" fmla="val 153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(Training)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볼펜이야" 하고 가르치는 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사진을 잔뜩 보여준다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정답(클래스 이름)을 알려준다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시간이 오래 걸린다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브라우저가 대신 해 준다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4447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(Inference)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뭐야?" 하고 물어보는 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배운 AI에게 사진 한 장을 준다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확률로 답한다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매우 빠르다 (1초 이내)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Colab에서 코드로 해 본다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2-2] 학습과 추론의 차이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8138160" cy="566928"/>
          </a:xfrm>
          <a:prstGeom prst="roundRect">
            <a:avLst>
              <a:gd name="adj" fmla="val 6452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41605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— </a:t>
            </a: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학습은 '가르치기'</a:t>
            </a: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en-US" sz="12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추론은 '물어보기'</a:t>
            </a: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오늘 우리는 둘 다 해 봄.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9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이름이 아니라 번호로 답함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3253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'볼펜'이라고 지은 이름은 AI에게는 그냥 0번임. 이름표를 따로 보관해 두었다가 나중에 붙여줘야 함.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514600" cy="1874520"/>
          </a:xfrm>
          <a:prstGeom prst="roundRect">
            <a:avLst>
              <a:gd name="adj" fmla="val 19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67512" y="1700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지은 이름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볼펜 / 지우개 / 텀블러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26700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클래스(Class)</a:t>
            </a: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라고 부름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572768"/>
            <a:ext cx="2514600" cy="1874520"/>
          </a:xfrm>
          <a:prstGeom prst="roundRect">
            <a:avLst>
              <a:gd name="adj" fmla="val 19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56432" y="1700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쓰는 번호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 /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56432" y="267004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순서는 클래스를 만든 순서임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0760" y="1572768"/>
            <a:ext cx="2514600" cy="1874520"/>
          </a:xfrm>
          <a:prstGeom prst="roundRect">
            <a:avLst>
              <a:gd name="adj" fmla="val 19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45352" y="17007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둘을 잇는 파일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labels.txt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2670048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내보내기 zip 안에 함께 들어옴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112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2-3] 클래스 이름과 AI가 쓰는 번호의 관계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470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" y="39319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D에서 labels.txt 를 읽는 코드를 직접 씀.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파일이 없으면 AI가 "2번입니다"라고만 답해서 무슨 물건인지 알 수 없음.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83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Teachable Machine은 무엇을 대신 해 주나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2-1] 직접 만들 때와 Teachable Machine을 쓸 때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1463040"/>
          <a:ext cx="813816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원래 필요한 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하면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Teachable Machine을 쓰면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모으기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찍어 폴더에 정리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웹캠으로 바로 촬영 · 자동 정리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설계하기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신경망 구조를 코드로 작성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 준비된 모델을 사용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학습시키기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GPU 서버에서 수 시간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브라우저에서 수십 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시험해 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 코드를 따로 작성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 창에서 즉시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내보내기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형식을 직접 변환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버튼 한 번으로 내려받기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9776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Teachable Machine이 대신 해 주지 않는 것 — 어떤 사진을 모을지 정하는 일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2611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데이터를 고르는 것은 여전히 사람의 몫임</a:t>
            </a: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[실습 A]에서 직접 경험함.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55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나오는 새 용어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2-2] 오늘 나오는 용어 정리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2920" y="1463040"/>
          <a:ext cx="8138160" cy="268833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어디서 나오나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 (Class)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AI가 구분할 종류 하나하나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A — 물건마다 클래스 1개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 (Sample)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학습에 쓰는 사진 한 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A — 클래스당 50장 이상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(Training)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사진과 정답을 보여주며 가르치는 과정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B — 버튼 한 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(Inference)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배운 AI에게 물어보는 것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B 미리보기 · 실습 D 코드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전처리 (Preprocessing)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AI가 받을 수 있는 숫자로 바꾸는 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D — 크기·범위 맞추기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확률 (Probability)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AI가 각 클래스일 것 같다고 매긴 점수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실습 D — 합이 100%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297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용어들은 3주차 Hugging Face 실습에서도 그대로 씀. 오늘 확실히 익혀 두세요</a:t>
            </a:r>
            <a:r>
              <a:rPr lang="en-US" sz="115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23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전체 흐름과 준비물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74520" cy="2103120"/>
          </a:xfrm>
          <a:prstGeom prst="roundRect">
            <a:avLst>
              <a:gd name="adj" fmla="val 19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모으기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웹캠으로 클래스별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50장 이상 촬영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371600"/>
            <a:ext cx="1874520" cy="2103120"/>
          </a:xfrm>
          <a:prstGeom prst="roundRect">
            <a:avLst>
              <a:gd name="adj" fmla="val 19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8892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학습(Train)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8892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한 번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수십 초 대기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1371600"/>
            <a:ext cx="1874520" cy="2103120"/>
          </a:xfrm>
          <a:prstGeom prst="roundRect">
            <a:avLst>
              <a:gd name="adj" fmla="val 19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98348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8348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TFLite 형식으로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zip 다운로드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86600" y="1371600"/>
            <a:ext cx="1874520" cy="2103120"/>
          </a:xfrm>
          <a:prstGeom prst="roundRect">
            <a:avLst>
              <a:gd name="adj" fmla="val 1951"/>
            </a:avLst>
          </a:prstGeom>
          <a:solidFill>
            <a:srgbClr val="FEF7E0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78040" y="14813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7804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추론(Predict)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178040" y="22402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불러와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사진 예측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566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0줄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사용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87705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2-4] 브라우저에서 만들고 Colab에서 쓰는 흐름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87952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424281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준비물 — </a:t>
            </a: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웹캠이 되는 PC</a:t>
            </a: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크롬 브라우저 · </a:t>
            </a: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분류할 물건 2~3가지</a:t>
            </a: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구글 계정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A]  약 35분 · 1단계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만들기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크롬 주소창에  teachablemachine.withgoogle.com  입력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브라우저에서는 동작하지 않음.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93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[시작하기(Get Started)] 클릭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가운데 큰 버튼임.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06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[이미지 프로젝트(Image Project)] 선택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2999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 · 자세 프로젝트도 있지만 오늘은 이미지.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41985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[표준 이미지 모델(Standard image model)] 선택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7124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임베디드 모델은 아두이노용이라 오늘은 사용 ✕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49240" y="1280160"/>
            <a:ext cx="3291840" cy="2377440"/>
          </a:xfrm>
          <a:prstGeom prst="roundRect">
            <a:avLst>
              <a:gd name="adj" fmla="val 192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40680" y="2240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화면 캡처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6941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2-5] 이미지 프로젝트 선택 화면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4617720" cy="54864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1788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확인 — 왼쪽에 'Class 1', 'Class 2' 상자 두 개가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보이면 성공임.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C6E2E46-2569-F6B1-3632-8CF430ECB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43584"/>
            <a:ext cx="3291839" cy="241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97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A]  약 35분 · 2단계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이름 정하기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'Class 1' 옆 연필 아이콘을 클릭함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칸이 편집 가능해짐.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물건 이름으로 바꿈 (예: 볼펜)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311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한글로 적어도 됨.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968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'Class 2'도 같은 방법으로 바꿈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2889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지우개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번째가 필요하면 [클래스 추가(Add a class)]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2~3개면 충분함.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49240" y="1280160"/>
            <a:ext cx="3291840" cy="2103120"/>
          </a:xfrm>
          <a:prstGeom prst="roundRect">
            <a:avLst>
              <a:gd name="adj" fmla="val 21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406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화면 캡처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419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2-6] 클래스 이름 바꾸기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86784"/>
            <a:ext cx="8138160" cy="658368"/>
          </a:xfrm>
          <a:prstGeom prst="roundRect">
            <a:avLst>
              <a:gd name="adj" fmla="val 5556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405993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클래스를 만든 순서가 그대로 0번, 1번, 2번이 됨.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나중에 순서를 바꾸면 labels.txt 도 바뀌니, 지금 정한 순서를 기억해 두세요.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2713EA0-6745-E576-6548-AE2ABF8A5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63082"/>
            <a:ext cx="3291840" cy="212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53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A]  약 35분 · 3단계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모으기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클래스의 [웹캠(Webcam)] 클릭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5361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브라우저가 카메라 권한을 물으면 [허용]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카메라 앞에 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2130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가운데에 물건이 크게 보이도록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[길게 눌러 녹화] 버튼을 누른 채 물건을 돌림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7249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누르고 있는 동안 계속 촬영됨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50장 이상 모음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3319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수가 클래스 이름 옆에 표시됨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75888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클래스도 같은 방법으로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9136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클래스마다 비슷한 장수를 모음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9240" y="1280160"/>
            <a:ext cx="3291840" cy="2103120"/>
          </a:xfrm>
          <a:prstGeom prst="roundRect">
            <a:avLst>
              <a:gd name="adj" fmla="val 21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406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화면 캡처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3419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2-7] 클래스별 사진 수집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15968"/>
            <a:ext cx="8138160" cy="384048"/>
          </a:xfrm>
          <a:prstGeom prst="roundRect">
            <a:avLst>
              <a:gd name="adj" fmla="val 9524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5800" y="435254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확인 — 클래스마다 사진 수가 50장 이상으로 표시되면 다음 단계로</a:t>
            </a:r>
            <a:endParaRPr lang="en-US" sz="11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926A0F81-4389-C9B1-570A-E0AC498E2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324804"/>
            <a:ext cx="3291840" cy="778316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517A65B4-0290-AA40-9C09-9A18EDA61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108119"/>
            <a:ext cx="3291840" cy="71488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FF967A7-F891-B5CE-D0C0-F3B5FEE46C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789751"/>
            <a:ext cx="3291840" cy="65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61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A]  약 35분 · 4단계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사진의 조건 — 여기서 성능이 갈림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16736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32688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각도를 바꿔가며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1554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· 아래 · 옆에서 골고루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여러 개로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· 손 · 벽 앞 등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다르게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2688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· 멀리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클래스마다 비슷한 장수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" y="32552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한쪽만 많으면 그쪽으로 치우침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98448"/>
            <a:ext cx="4023360" cy="2286000"/>
          </a:xfrm>
          <a:prstGeom prst="roundRect">
            <a:avLst>
              <a:gd name="adj" fmla="val 1600"/>
            </a:avLst>
          </a:prstGeom>
          <a:solidFill>
            <a:srgbClr val="FCE8E6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426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실패함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1792224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같은 배경에서만 촬영</a:t>
            </a:r>
            <a:endParaRPr lang="en-US" sz="1200" b="1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한 방향으로만 촬영</a:t>
            </a:r>
            <a:endParaRPr lang="en-US" sz="1200" b="1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클래스만 100장, 다른 건 10장</a:t>
            </a:r>
            <a:endParaRPr lang="en-US" sz="1200" b="1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물건이 화면에서 너무 작음</a:t>
            </a:r>
            <a:endParaRPr lang="en-US" sz="1200" b="1" dirty="0"/>
          </a:p>
        </p:txBody>
      </p:sp>
      <p:sp>
        <p:nvSpPr>
          <p:cNvPr id="23" name="Shape 21"/>
          <p:cNvSpPr/>
          <p:nvPr/>
        </p:nvSpPr>
        <p:spPr>
          <a:xfrm>
            <a:off x="502920" y="3730752"/>
            <a:ext cx="8138160" cy="896112"/>
          </a:xfrm>
          <a:prstGeom prst="roundRect">
            <a:avLst>
              <a:gd name="adj" fmla="val 40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82219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같은 배경에서 찍으면 AI가 '물건'이 아니라 '배경'을 외움.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위에서만 찍은 볼펜을 손에 들고 보여주면 갑자기 못 맞히는 이유가 이것임.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14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점검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됐는지 확인함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234440" y="145389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Teachable Machine 이미지 프로젝트를 열었다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299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34440" y="20208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이름을 내 물건 이름으로 바꿨다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34440" y="25877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클래스마다 사진을 50장 이상 모았다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63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배경과 각도를 바꿔가며 촬영했다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4706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가지가 모두 됐으면 손을 들어 주세요. 아직이면 옆 사람 화면과 비교해 보고,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안 되면 손 들어 교수를 부르세요. 다음 단계로 넘어가면 되돌리기 어려움.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53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B]  약 25분 · 1단계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학습시키기 (Train)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[모델 학습시키기(Train Model)] 버튼을 누르고 기다림. 수십 초면 완료됨.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2-8] 학습 완료 화면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83480" y="1517904"/>
            <a:ext cx="3657600" cy="2011680"/>
          </a:xfrm>
          <a:prstGeom prst="roundRect">
            <a:avLst>
              <a:gd name="adj" fmla="val 1818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138928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학습 중에는 탭을 옮기지 마세요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38928" y="1956816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학습은 내 컴퓨터의 브라우저 안에서 진행됨.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탭으로 이동하거나 창을 최소화하면 학습이 멈추거나 매우 느려짐.</a:t>
            </a:r>
            <a:endParaRPr lang="en-US" sz="1150" b="1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끝날 때까지 이 화면을 그대로 두세요.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8138160" cy="713232"/>
          </a:xfrm>
          <a:prstGeom prst="roundRect">
            <a:avLst>
              <a:gd name="adj" fmla="val 5128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40050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확인 — 버튼 글자가 '모델 학습됨(Model Trained)'으로 바뀌고,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오른쪽 [미리보기(Preview)] 칸에 웹캠 화면과 확률 막대가 나타나면 성공임.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AE203C5-4602-EFB0-070B-54C74D33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352" t="29890" r="-6001" b="-10143"/>
          <a:stretch>
            <a:fillRect/>
          </a:stretch>
        </p:blipFill>
        <p:spPr>
          <a:xfrm>
            <a:off x="515324" y="1792224"/>
            <a:ext cx="1964722" cy="162763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A41CE4-576F-1F9A-F794-9ACDFD501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707" y="1792224"/>
            <a:ext cx="2075821" cy="162763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062624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B]  약 25분 · 2단계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중에는 무슨 일이 일어나나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[고급(Advanced)] 을 펼치면 설정 세 가지가 보임. 오늘은 바꾸지 않지만 뜻은 알아둡시다.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2-3] 학습 설정 세 가지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913647"/>
              </p:ext>
            </p:extLst>
          </p:nvPr>
        </p:nvGraphicFramePr>
        <p:xfrm>
          <a:off x="502920" y="1773936"/>
          <a:ext cx="8138160" cy="19019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쉽게 말하면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기본값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에포크 (Epochs)</a:t>
                      </a:r>
                      <a:endParaRPr lang="en-US" sz="1050" b="1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사진을 몇 번 반복해서 볼지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교과서를 몇 번 읽을지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 크기 (Batch Size)</a:t>
                      </a:r>
                      <a:endParaRPr lang="en-US" sz="1050" b="1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번에 몇 장씩 묶어서 볼지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번에 몇 쪽씩 볼지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 (Learning Rate)</a:t>
                      </a:r>
                      <a:endParaRPr lang="en-US" sz="1050" b="1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번에 얼마나 크게 고칠지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틀렸을 때 얼마나 크게 고칠지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712464"/>
            <a:ext cx="8138160" cy="9144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685800" y="3803904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오늘은 안 바꾸나 — </a:t>
            </a:r>
            <a:r>
              <a:rPr lang="en-US" sz="120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사진이 부족한 상태에서 에포크만 늘리면 오히려 나빠짐.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성능을 올리는 가장 확실한 방법은 설정이 아니라 사진을 더 잘 모으는 것임.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3F89E6-3D54-BD61-BD79-ECBC6E28A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777" y="1207008"/>
            <a:ext cx="1180845" cy="263347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55835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B]  약 25분 · 3단계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시험해 보기 — 추론 체험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카메라에 비춰 보세요.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1545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막대가 실시간으로 움직임. 이게 추론임.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38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치워 보세요.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037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그래도 무언가를 고름.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596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배경을 바꿔 보세요.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위 → 손에 들고 → 벽 앞. 정확도가 달라지나요?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없던 물건을 보여 주세요.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슬라이드에서 이 결과를 함께 이야기함.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49240" y="3419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2-9] 미리보기 화면의 확률 막대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986784"/>
            <a:ext cx="8138160" cy="658368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4059936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관찰한 것을 기억해 두세요. 바로 다음 슬라이드의 '생각해보기'와 이어짐.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6916F57-3329-0BDA-0E16-FA6705AC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217788"/>
            <a:ext cx="2221161" cy="21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88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멈추고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생각해보기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1051560"/>
          </a:xfrm>
          <a:prstGeom prst="roundRect">
            <a:avLst>
              <a:gd name="adj" fmla="val 4348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전혀 없던 물건(손, 책, 얼굴)을 보여줬을 때</a:t>
            </a:r>
            <a:endParaRPr lang="en-US" sz="17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왜 "모르겠다"고 답하지 못했을까요?</a:t>
            </a:r>
            <a:endParaRPr lang="en-US" sz="17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301752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 1 — AI가 고를 수 있는 답은 몇 개였나요?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4015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 2 — 확률을 다 더하면 몇 %가 되나요?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37856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 3 — '해당 없음'이라는 클래스를 만든 적이 있나요?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02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잠깐 멈추고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생각해보기 — 함께 답 맞추기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886200" cy="2240280"/>
          </a:xfrm>
          <a:prstGeom prst="roundRect">
            <a:avLst>
              <a:gd name="adj" fmla="val 163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4880" y="1298448"/>
            <a:ext cx="3886200" cy="2240280"/>
          </a:xfrm>
          <a:prstGeom prst="roundRect">
            <a:avLst>
              <a:gd name="adj" fmla="val 163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426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실제로 하는 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810512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클래스마다 점수를 매긴다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점수의 합이 100%가 되게 만든다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높은 것을 답으로 내놓는다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'없음'은 배운 적이 없다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426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생기는 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810512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비춰도 '볼펜'이라고 답한다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바뀌어도 틀린다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40%인 답도 답으로 내놓는다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확률을 보고 걸러야 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675888"/>
            <a:ext cx="8138160" cy="9144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실무에서는 이렇게 다룸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0050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</a:t>
            </a: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</a:t>
            </a: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</a:t>
            </a:r>
            <a:r>
              <a:rPr lang="en-US" sz="11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기준(예: 80%)보다 낮으면 '판단 보류'로 처리한다</a:t>
            </a:r>
            <a:endParaRPr lang="en-US" sz="1150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'해당 없음' 클래스를 따로 만들어 아무 물건이나 넣어 학습시킨다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89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56032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돌아오면 만든 AI를 파일로 내보내고, Colab에서 코드로 불러 씀.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463040" y="3108960"/>
            <a:ext cx="6217920" cy="1234440"/>
          </a:xfrm>
          <a:prstGeom prst="roundRect">
            <a:avLst>
              <a:gd name="adj" fmla="val 296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691640" y="32186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동안 해 두면 좋은 것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691640" y="3511296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브라우저 탭을 닫지 마세요 (학습한 모델이 사라짐)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사진이 부족한 클래스가 있으면 더 촬영해 두세요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1주차 과제를 아직 못 낸 학생은 지금 제출하세요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4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id="{E37845AD-9DC7-45A8-18A8-F480B0F4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305" y="1269084"/>
            <a:ext cx="3645055" cy="214744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C]  약 10분 · 1단계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내보내기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[모델 내보내기(Export Model)] 클릭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" y="1545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미리보기 칸 위쪽에 있음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568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탭에서 [Tensorflow Lite] 선택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221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Tensorflow 탭이 아님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633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[부동 소수점(Floating point)] 선택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2898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장에서 이유를 설명함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28416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[모델 다운로드(Download my model)] 클릭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5753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변환에 1~2분 걸림. 기다리세요.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06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화면 캡처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34198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2-10] 모델 내보내기 화면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059936"/>
            <a:ext cx="8138160" cy="585216"/>
          </a:xfrm>
          <a:prstGeom prst="roundRect">
            <a:avLst>
              <a:gd name="adj" fmla="val 6250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85800" y="41148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확인 — converted_tflite.zip 이 다운로드되면 성공. 안에 .tflite 파일과 labels.txt 가 들어 있음.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7849C60-63CA-399A-451C-ACBEB5C95B03}"/>
              </a:ext>
            </a:extLst>
          </p:cNvPr>
          <p:cNvSpPr/>
          <p:nvPr/>
        </p:nvSpPr>
        <p:spPr>
          <a:xfrm>
            <a:off x="7173883" y="1453896"/>
            <a:ext cx="1163782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8715ED-F60C-8E27-CB39-0EC4EF959637}"/>
              </a:ext>
            </a:extLst>
          </p:cNvPr>
          <p:cNvSpPr/>
          <p:nvPr/>
        </p:nvSpPr>
        <p:spPr>
          <a:xfrm>
            <a:off x="4950305" y="2704409"/>
            <a:ext cx="839510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299A8697-7D8A-BA14-A059-13BF3789D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286" y="4513245"/>
            <a:ext cx="1752038" cy="59299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8F9CA30E-0ED0-5767-0D1F-F199EB331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485" y="4484950"/>
            <a:ext cx="1661722" cy="60300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1615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C]  약 10분 · 2단계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TensorFlow Lite를 고르나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2-4] 내보내기 형식 비교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468066"/>
              </p:ext>
            </p:extLst>
          </p:nvPr>
        </p:nvGraphicFramePr>
        <p:xfrm>
          <a:off x="502920" y="1463040"/>
          <a:ext cx="8138160" cy="267836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형식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파일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Colab에서 쓰기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수업 사용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Tensorflow Lite</a:t>
                      </a:r>
                      <a:endParaRPr lang="en-US" sz="1000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(부동 소수점)</a:t>
                      </a:r>
                      <a:endParaRPr lang="en-US" sz="1000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model_unquant.tflite</a:t>
                      </a:r>
                      <a:endParaRPr lang="en-US" sz="1000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labels.txt</a:t>
                      </a:r>
                      <a:endParaRPr lang="en-US" sz="1000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바로 동작 · 버전 문제 없음</a:t>
                      </a:r>
                      <a:endParaRPr lang="en-US" sz="1000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오늘 사용</a:t>
                      </a:r>
                      <a:endParaRPr lang="en-US" sz="1000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Tensorflow Lite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(양자화)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model.tflite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labels.txt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동작하지만 정확도가 떨어짐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참고만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Tensorflow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(Keras)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keras_model.h5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labels.txt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그냥 열면 오류 발생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(노트북 (참고) 셀에 해결법)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참고만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Tensorflow.js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model.json 등 여러 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웹페이지용 · 오늘 범위 밖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41648"/>
            <a:ext cx="8138160" cy="603504"/>
          </a:xfrm>
          <a:prstGeom prst="roundRect">
            <a:avLst>
              <a:gd name="adj" fmla="val 606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85800" y="411480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Keras(.h5) 는 오래된 저장 방식이라 요즘 Colab에서 열면 DepthwiseConv2D 관련 오류가 남.</a:t>
            </a:r>
            <a:endParaRPr lang="en-US" sz="1100" b="1" dirty="0">
              <a:solidFill>
                <a:srgbClr val="FF0000"/>
              </a:solidFill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수업에서는 문제가 없는 TFLite 부동 소수점을 씀.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11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 약 30분 · 1단계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Colab에 올리고 압축 풀기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노트북 `2주차_TeachableMachine_모델사용.ipynb` 를 열고 위에서부터 실행함.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5179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올리기 [실습 1-1]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4023360" cy="777240"/>
          </a:xfrm>
          <a:prstGeom prst="roundRect">
            <a:avLst>
              <a:gd name="adj" fmla="val 4706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30936" y="1901952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files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 = files.upload()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6883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압축 풀기 [실습 1-2]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980944"/>
            <a:ext cx="4023360" cy="1234440"/>
          </a:xfrm>
          <a:prstGeom prst="roundRect">
            <a:avLst>
              <a:gd name="adj" fmla="val 2963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30936" y="3072384"/>
            <a:ext cx="3767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zipfile, glob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z in glob.glob("*.zip"):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zipfile.ZipFile(z) as f: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f.extractall(".")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517904"/>
            <a:ext cx="3840480" cy="1417320"/>
          </a:xfrm>
          <a:prstGeom prst="roundRect">
            <a:avLst>
              <a:gd name="adj" fmla="val 2581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56048" y="1609344"/>
            <a:ext cx="3566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확인 체크포인트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목록에 아래 두 가지가 보이면 성공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model_unquant.tflite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· labels.txt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3054096"/>
            <a:ext cx="3840480" cy="1170432"/>
          </a:xfrm>
          <a:prstGeom prst="roundRect">
            <a:avLst>
              <a:gd name="adj" fmla="val 3125"/>
            </a:avLst>
          </a:prstGeom>
          <a:solidFill>
            <a:srgbClr val="FCE8E6"/>
          </a:solidFill>
          <a:ln w="12700">
            <a:solidFill>
              <a:srgbClr val="F6C7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56048" y="314553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업로드가 100%가 될 때까지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다른 셀을 실행하지 마세요.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세션이 끊기면 올린 파일이 사라짐.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올리면 됨.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노트북은 팀즈 2주차 자료실에 함께 올려 두었음.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42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 약 30분 · 2단계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이름 읽어오기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labels.txt 한 줄은 "0 볼펜" 처럼 [번호][공백][이름] 형태임.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4572000" cy="1600200"/>
          </a:xfrm>
          <a:prstGeom prst="roundRect">
            <a:avLst>
              <a:gd name="adj" fmla="val 2286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609344"/>
            <a:ext cx="43159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open("labels.txt", encoding="utf-8") as f: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= [l.strip() for l in f if l.strip()]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[]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lines: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parts = line.split(" ", 1)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labels.append(parts[1])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4924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실행 결과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349240" y="1810512"/>
            <a:ext cx="3291840" cy="1307592"/>
          </a:xfrm>
          <a:prstGeom prst="roundRect">
            <a:avLst>
              <a:gd name="adj" fmla="val 2797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77256" y="1901952"/>
            <a:ext cx="30358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클래스 개수 : 3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0번 -&gt; 볼펜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1번 -&gt; 지우개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2번 -&gt; 텀블러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8138160" cy="658368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336499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split(" ", 1) 은 첫 번째 공백에서 한 번만 자르라는 뜻임.</a:t>
            </a:r>
            <a:endParaRPr lang="en-US" sz="1150" b="1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해야 '0 검정 볼펜'처럼 이름에 공백이 있어도 이름 전체가 살아남음.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41648"/>
            <a:ext cx="8138160" cy="566928"/>
          </a:xfrm>
          <a:prstGeom prst="roundRect">
            <a:avLst>
              <a:gd name="adj" fmla="val 6452"/>
            </a:avLst>
          </a:prstGeom>
          <a:solidFill>
            <a:srgbClr val="E6F4EA"/>
          </a:solidFill>
          <a:ln w="12700">
            <a:solidFill>
              <a:srgbClr val="CEEA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40965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7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확인 — 내가 만든 클래스 이름이 순서대로 출력되면 성공임.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24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 약 30분 · 3단계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불러오기와 입력 규격 확인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25296"/>
            <a:ext cx="4572000" cy="1965960"/>
          </a:xfrm>
          <a:prstGeom prst="roundRect">
            <a:avLst>
              <a:gd name="adj" fmla="val 1860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30936" y="1316736"/>
            <a:ext cx="43159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ai-edge-litert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glob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ai_edge_litert.interpreter import Interpreter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glob.glob("**/*.tflite", recursive=True)[0]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 = Interpreter(model_path=MODEL)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interpreter.allocate_tensors()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 = interpreter.get_input_details()[0]</a:t>
            </a:r>
            <a:endParaRPr lang="en-US" sz="8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interpreter.get_output_details()[0]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303520" y="12252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실행 결과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1536192"/>
            <a:ext cx="3337560" cy="1417320"/>
          </a:xfrm>
          <a:prstGeom prst="roundRect">
            <a:avLst>
              <a:gd name="adj" fmla="val 2581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31536" y="1627632"/>
            <a:ext cx="30815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LiteRT 사용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[입력]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크기   : 224 x 224 픽셀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자료형 : float32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[출력]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클래스 3 개의 확률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이름을 직접 적지 않고 glob 으로 찾는 이유 — Teachable Machine 버전에 따라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model.tflite / model_unquant.tflite 로 이름이 다르게 나오기 때문임.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77056"/>
            <a:ext cx="8138160" cy="768096"/>
          </a:xfrm>
          <a:prstGeom prst="roundRect">
            <a:avLst>
              <a:gd name="adj" fmla="val 476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5800" y="396849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224 x 224 인가 — Teachable Machine이 쓰는 모델이 그 크기로 학습됐기 때문임.</a:t>
            </a:r>
            <a:endParaRPr lang="en-US" sz="1150" b="1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우리가 넣을 사진도 반드시 같은 크기로 줄여서 넣어야 함. (다음 슬라이드)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15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 약 30분 · 4단계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 — 사진을 숫자로 바꾸기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사진을 그냥 보지만, AI는 숫자 덩어리만 받을 수 있음. 세 단계를 거침.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2514600" cy="1691640"/>
          </a:xfrm>
          <a:prstGeom prst="roundRect">
            <a:avLst>
              <a:gd name="adj" fmla="val 216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7512" y="1645920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67512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655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맞추기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224 x 224 로 줄이기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img.resize((224, 224))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1517904"/>
            <a:ext cx="2514600" cy="1691640"/>
          </a:xfrm>
          <a:prstGeom prst="roundRect">
            <a:avLst>
              <a:gd name="adj" fmla="val 216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456432" y="1645920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56432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655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바꾸기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56432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픽셀을 0~255 숫자로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56432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np.asarray(img, np.float32)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0644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1517904"/>
            <a:ext cx="2514600" cy="1691640"/>
          </a:xfrm>
          <a:prstGeom prst="roundRect">
            <a:avLst>
              <a:gd name="adj" fmla="val 216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245352" y="1645920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45352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655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맞추기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45352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 ~ 1 사이로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(arr / 127.5) - 1.0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346704"/>
            <a:ext cx="4937760" cy="1005840"/>
          </a:xfrm>
          <a:prstGeom prst="roundRect">
            <a:avLst>
              <a:gd name="adj" fmla="val 3636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0936" y="3438144"/>
            <a:ext cx="4681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사진_준비하기(파일이름):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Image.open(파일이름).convert("RGB")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img.resize((IMG_W, IMG_H))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 = (np.asarray(img, np.float32) / 127.5) - 1.0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np.expand_dims(arr, 0)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23560" y="3346704"/>
            <a:ext cx="3017520" cy="1005840"/>
          </a:xfrm>
          <a:prstGeom prst="roundRect">
            <a:avLst>
              <a:gd name="adj" fmla="val 3636"/>
            </a:avLst>
          </a:prstGeom>
          <a:solidFill>
            <a:srgbClr val="FCE8E6"/>
          </a:solidFill>
          <a:ln w="12700">
            <a:solidFill>
              <a:srgbClr val="F6C7C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779008" y="343814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3단계를 빠뜨리면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Dimension mismatch 오류가 나거나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326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엉뚱한 답이 나옴.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63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 약 30분 · 5단계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— 오늘의 핵심 3줄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10896" cy="310896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371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1280160"/>
            <a:ext cx="4617720" cy="530352"/>
          </a:xfrm>
          <a:prstGeom prst="roundRect">
            <a:avLst>
              <a:gd name="adj" fmla="val 6897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956816" y="1371600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interpreter.set_tensor(inp["index"], X)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0" y="1399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준비한 사진을 모델에 넣는다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048256"/>
            <a:ext cx="310896" cy="310896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2048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0299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돌리고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0" y="1938528"/>
            <a:ext cx="4617720" cy="530352"/>
          </a:xfrm>
          <a:prstGeom prst="roundRect">
            <a:avLst>
              <a:gd name="adj" fmla="val 6897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956816" y="2029968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interpreter.invoke()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0" y="2057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계산을 시킨다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06624"/>
            <a:ext cx="310896" cy="310896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268833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꺼내고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0" y="2596896"/>
            <a:ext cx="4617720" cy="530352"/>
          </a:xfrm>
          <a:prstGeom prst="roundRect">
            <a:avLst>
              <a:gd name="adj" fmla="val 6897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956816" y="2688336"/>
            <a:ext cx="4361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interpreter.get_tensor(out["index"])[0]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3680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결과(확률)를 꺼낸다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읽기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4206240" cy="914400"/>
          </a:xfrm>
          <a:prstGeom prst="roundRect">
            <a:avLst>
              <a:gd name="adj" fmla="val 4000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30936" y="3749040"/>
            <a:ext cx="3950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int(np.argmax(probs))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print(labels[best], probs[best])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3364992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74920" y="35707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여기에 예측 결과 화면 캡처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4270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 2-11] 예측 결과 출력 화면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88244D6-FA7D-461F-876C-F04739FB9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810" y="3374136"/>
            <a:ext cx="3665990" cy="83022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D]  약 30분 · 6단계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그래프로, 여러 장을 한 번에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확률을 막대그래프로 [실습 5-2]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4023360" cy="914400"/>
          </a:xfrm>
          <a:prstGeom prst="roundRect">
            <a:avLst>
              <a:gd name="adj" fmla="val 4000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30936" y="1591056"/>
            <a:ext cx="3767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plt.barh(labels, probs * 100)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plt.xlim(0, 100)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plt.xlabel("확률 (%)")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5237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폴더의 사진을 모두 예측 [실습 6-1]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4023360" cy="1097280"/>
          </a:xfrm>
          <a:prstGeom prst="roundRect">
            <a:avLst>
              <a:gd name="adj" fmla="val 3333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30936" y="2907792"/>
            <a:ext cx="3767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파일 in 사진목록: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이름, 확률 = 예측하기(파일)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표시 = "O" if 확률 &gt;= 0.8 else "?"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print(표시, 파일, 이름)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실행 결과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00600" y="1499616"/>
            <a:ext cx="3840480" cy="1051560"/>
          </a:xfrm>
          <a:prstGeom prst="roundRect">
            <a:avLst>
              <a:gd name="adj" fmla="val 3478"/>
            </a:avLst>
          </a:prstGeom>
          <a:solidFill>
            <a:srgbClr val="F1F3F4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28616" y="1591056"/>
            <a:ext cx="3584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찾은 사진 3장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test_볼펜.jpg   -&gt; 텀블러 (33.8%)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2021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test_지우개.jpg -&gt; 텀블러 (33.9%)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2670048"/>
            <a:ext cx="3840480" cy="1243584"/>
          </a:xfrm>
          <a:prstGeom prst="roundRect">
            <a:avLst>
              <a:gd name="adj" fmla="val 2941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56048" y="2761488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확률이 낮으면 ? 표시가 붙음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예시는 사진을 제대로 학습시키지 않은 경우임.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클래스가 모두 33% 근처라면 AI가 전혀 구분하지 못한다는 뜻임.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깨지면 — 1주차에서 배운 나눔 폰트 설치 셀을 먼저 실행하세요. (노트북 [실습 5-1]에 그대로 들어 있음)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50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점검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됐는지 확인함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234440" y="145389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converted_tflite.zip 을 Colab에 올리고 압축을 풀었다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0299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234440" y="20208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labels.txt 를 읽어 내 클래스 이름이 출력됐다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234440" y="258775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불러와 입력 크기 224 x 224 를 확인했다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1638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8086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사진 한 장을 예측해서 이름과 확률을 봤다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4706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93192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가지가 모두 됐으면 오늘의 실습은 끝임.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막힌 항목이 있으면 지금 손을 들어 주세요. 남은 시간은 과제 설명에 씀.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65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나는 오류와 해결 방법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2-5] 자주 나는 오류와 해결 방법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502920" y="1463040"/>
          <a:ext cx="8138160" cy="279806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방법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웹캠 화면이 안 나옴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권한 차단 / 다른 앱 사용 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주소창 왼쪽 자물쇠 → 카메라 [허용]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Teachable Machine이 열리지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휴대폰 또는 미지원 브라우저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데스크톱 크롬 또는 사파리로 접속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학습이 멈춘 것 같음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중 다른 탭으로 이동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탭을 그대로 두고 기다리기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FileNotFoundError: labels.txt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압축을 풀지 않음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노트북 [실습 1-2] 실행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tflite 파일이 없음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형식으로 내보냄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TFLite → 부동 소수점으로 다시 내보내기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Dimension mismatch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크기를 안 맞춤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사진_준비하기( ) 함수를 거쳐서 넣기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확률이 33% 근처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수 부족 / 물건이 서로 비슷함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50장 이상, 다른 물건으로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TypeError ... 'groups' 오류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오래된 .h5 를 그냥 열었음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노트북 (참고) 셀의 방법 사용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3525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메시지는 맨 아랫줄 한 줄만 읽으면 원인이 나옴.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771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해결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막혔을 때 이 순서대로 하세요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2435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메시지의 맨 아랫줄을 읽는다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1790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영어라도 마지막 한 줄에 원인이 있음.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8105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2-5] 에서 같은 증상을 찾는다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나오는 오류는 대부분 여기 있음.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95728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77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[런타임] → [모두 실행] 을 해 본다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절반 이상이 이걸로 해결됨.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9443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 사람 화면과 비교한다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2186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다른지 찾으면 원인이 보임.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529584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5112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들어 교수를 부른다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7856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10분 이상 붙잡고 있지 마세요.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169664"/>
            <a:ext cx="8138160" cy="530352"/>
          </a:xfrm>
          <a:prstGeom prst="roundRect">
            <a:avLst>
              <a:gd name="adj" fmla="val 689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" y="42428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나는 것은 실패가 아니라 정상임. 프로그래머는 하루의 절반을 오류 읽는 데 씀.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10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· 제출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과제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023360" cy="18288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1 — 내 모델의 성적표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안 쓴 새 사진을 클래스당 2장씩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노트북 [과제 1] 의 정답표를 채우기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개를 맞혔는지 정확도 확인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4023360" cy="1828800"/>
          </a:xfrm>
          <a:prstGeom prst="roundRect">
            <a:avLst>
              <a:gd name="adj" fmla="val 200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8006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2 — AI를 속여 보기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830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없던 물건을 보여주고 결과 적기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'모르겠다'고 못하는 이유 쓰기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생길 수 있는 문제 1가지 쓰기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369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기준 — 정확도가 높은 것이 아니라, 결과를 스스로 설명할 수 있는지를 봄.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8138160" cy="1005840"/>
          </a:xfrm>
          <a:prstGeom prst="roundRect">
            <a:avLst>
              <a:gd name="adj" fmla="val 3636"/>
            </a:avLst>
          </a:prstGeom>
          <a:solidFill>
            <a:srgbClr val="FEF7E0"/>
          </a:solidFill>
          <a:ln w="12700">
            <a:solidFill>
              <a:srgbClr val="FDE29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3694176"/>
            <a:ext cx="7772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전 반드시 — [런타임(Runtime)] → [모두 실행(Run all)]</a:t>
            </a:r>
            <a:endParaRPr lang="en-US" sz="1150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endParaRPr lang="en-US" sz="1150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끝까지 오류 없이 실행되어야 함.</a:t>
            </a:r>
            <a:endParaRPr lang="en-US" sz="1150" dirty="0">
              <a:solidFill>
                <a:srgbClr val="FF0000"/>
              </a:solidFill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업로드 셀은 다시 파일을 골라야 하니 순서대로 진행하세요.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210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알아보기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[표 2-6] 이번 주 심화 자료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/>
        </p:nvGraphicFramePr>
        <p:xfrm>
          <a:off x="502920" y="1463040"/>
          <a:ext cx="8138160" cy="25146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볼 수 있나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Teachable Machine 공식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 · 소리 · 자세 프로젝트 직접 실행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teachablemachine.withgoogle.com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생활코딩 — Teachable Machine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한국어 영상 강의, 손톱 물어뜯기 예제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opentutorials.org/course/4548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모두의연구소 — 노코드 AI 활용하기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한국어 글 튜토리얼, 활용 사례 정리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modulabs.co.kr/blog/teachable-machine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LiteRT 공식 문서 (구 TensorFlow Lite)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ai-edge-litert 사용법과 마이그레이션 안내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0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developers.google.com/edge/litert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1148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링크가 실습 노트북 마지막 '더 알아보기'에도 들어 있음. 노트북에서 바로 클릭하세요.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43891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6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링크 모두 자료 작성 시점(2026-08-07)에 접속 확인함.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5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· 제출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제출물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16152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16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노트북 파일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2070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7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2주차_TeachableMachine_모델사용.ipynb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45389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[파일(File)] → [다운로드(Download)] → [.ipynb 다운로드]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37944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105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완료 화면 캡처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7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2주차_학습완료.png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이름과 클래스별 사진 수가 함께 보이도록 캡처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결과 화면 캡처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450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7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2주차_예측결과.png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69748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[실습 4-3] 실행 결과 (예측 이름과 확률이 보이도록)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81528"/>
            <a:ext cx="292608" cy="292608"/>
          </a:xfrm>
          <a:prstGeom prst="ellipse">
            <a:avLst/>
          </a:prstGeom>
          <a:solidFill>
            <a:srgbClr val="E8710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0540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1 · 2 답안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072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71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노트북 안에 포함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31927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결과와 과제 2의 1~3번 답을 노트북에 작성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03320"/>
            <a:ext cx="8138160" cy="896112"/>
          </a:xfrm>
          <a:prstGeom prst="roundRect">
            <a:avLst>
              <a:gd name="adj" fmla="val 40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5800" y="3776472"/>
            <a:ext cx="7818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기한 : 다음 수업 전날 오후 11:59까지          제출 위치 : 팀즈에 2주차 과제 생성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파일 이름은  날짜(YYYYMMDD)_이름_2주차.ipynb  형식으로 바꿔서 제출하세요. (예: 20260825_홍길동_2주차.ipynb)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예고 — 3주차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1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남이 만든 AI 가져다 쓰기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8105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Hugging Face 시작하기 — pipeline으로 문장의 감정 분석하기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04288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사진을 직접 모아 학습시켰지만, 다음 주에는 이미 학습이 끝난 모델을 씀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세 줄이면 문장의 긍정 · 부정을 판단하는 AI가 동작함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세계가 공개해 둔 모델 수십만 개를 검색하고 골라 쓰는 법을 배움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F63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학습에는 며칠이 걸리지만, 가져다 쓰는 데는 몇 초면 충분함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8138160" cy="749808"/>
          </a:xfrm>
          <a:prstGeom prst="roundRect">
            <a:avLst>
              <a:gd name="adj" fmla="val 487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3931920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 준비물 — Hugging Face 계정 (huggingface.co 에서 무료 가입)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1주차에 안내한 대로 아직 안 만들었다면 이번 주 안에 만들어 오세요. </a:t>
            </a:r>
            <a:r>
              <a:rPr lang="en-US" sz="1200" b="1" dirty="0">
                <a:solidFill>
                  <a:srgbClr val="FF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정보는 넣지 않음.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55280" y="4736592"/>
            <a:ext cx="6858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0868B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80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A0AD06-0383-4A8C-94E5-1FFA1CE028A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e5e7271-f2ab-4449-a462-7a8b813442a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C1AB66AB439FC4E85D5E9049F56C130" ma:contentTypeVersion="3" ma:contentTypeDescription="새 문서를 만듭니다." ma:contentTypeScope="" ma:versionID="7597ceffb36acbac271ec105cc5fbf17">
  <xsd:schema xmlns:xsd="http://www.w3.org/2001/XMLSchema" xmlns:xs="http://www.w3.org/2001/XMLSchema" xmlns:p="http://schemas.microsoft.com/office/2006/metadata/properties" xmlns:ns2="ee16c1a1-cfd3-4261-9cb9-9fdab064dd1f" targetNamespace="http://schemas.microsoft.com/office/2006/metadata/properties" ma:root="true" ma:fieldsID="9542421e6b0d62aaf087cb1a19ef5c39" ns2:_="">
    <xsd:import namespace="ee16c1a1-cfd3-4261-9cb9-9fdab064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16c1a1-cfd3-4261-9cb9-9fdab064dd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AD5EA3-5CDA-453B-88C7-BA1C8B0A3828}"/>
</file>

<file path=customXml/itemProps2.xml><?xml version="1.0" encoding="utf-8"?>
<ds:datastoreItem xmlns:ds="http://schemas.openxmlformats.org/officeDocument/2006/customXml" ds:itemID="{F50F9AF9-B4CD-484B-BC93-FE647EBD497C}"/>
</file>

<file path=customXml/itemProps3.xml><?xml version="1.0" encoding="utf-8"?>
<ds:datastoreItem xmlns:ds="http://schemas.openxmlformats.org/officeDocument/2006/customXml" ds:itemID="{03639928-18A2-4A83-B210-89C73F6B1CB1}"/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4726</Words>
  <Application>Microsoft Office PowerPoint</Application>
  <PresentationFormat>화면 슬라이드 쇼(16:9)</PresentationFormat>
  <Paragraphs>760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종철 황</cp:lastModifiedBy>
  <cp:revision>7</cp:revision>
  <dcterms:created xsi:type="dcterms:W3CDTF">2026-08-24T02:00:16Z</dcterms:created>
  <dcterms:modified xsi:type="dcterms:W3CDTF">2026-08-24T03:26:46Z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0x0101006C1AB66AB439FC4E85D5E9049F56C130</vt:lpwstr>
  </property>
</Properties>
</file>